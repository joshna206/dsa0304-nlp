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2" r:id="rId5"/>
    <p:sldId id="259" r:id="rId6"/>
    <p:sldId id="261" r:id="rId7"/>
    <p:sldId id="263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0C4DAA-2A00-4663-935A-9D037598063A}" v="8" dt="2026-07-15T09:03:43.3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hna Besta" userId="08cd2af9f26b2296" providerId="LiveId" clId="{17BFE3E4-9AA8-44D0-AD89-0C4792488673}"/>
    <pc:docChg chg="custSel addSld delSld modSld sldOrd">
      <pc:chgData name="Joshna Besta" userId="08cd2af9f26b2296" providerId="LiveId" clId="{17BFE3E4-9AA8-44D0-AD89-0C4792488673}" dt="2026-07-17T06:12:39.774" v="212" actId="14100"/>
      <pc:docMkLst>
        <pc:docMk/>
      </pc:docMkLst>
      <pc:sldChg chg="modSp mod">
        <pc:chgData name="Joshna Besta" userId="08cd2af9f26b2296" providerId="LiveId" clId="{17BFE3E4-9AA8-44D0-AD89-0C4792488673}" dt="2026-07-17T06:12:39.774" v="212" actId="14100"/>
        <pc:sldMkLst>
          <pc:docMk/>
          <pc:sldMk cId="0" sldId="256"/>
        </pc:sldMkLst>
        <pc:spChg chg="mod">
          <ac:chgData name="Joshna Besta" userId="08cd2af9f26b2296" providerId="LiveId" clId="{17BFE3E4-9AA8-44D0-AD89-0C4792488673}" dt="2026-07-15T09:05:15.643" v="157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Joshna Besta" userId="08cd2af9f26b2296" providerId="LiveId" clId="{17BFE3E4-9AA8-44D0-AD89-0C4792488673}" dt="2026-07-17T06:12:39.774" v="212" actId="14100"/>
          <ac:spMkLst>
            <pc:docMk/>
            <pc:sldMk cId="0" sldId="256"/>
            <ac:spMk id="6" creationId="{009A2BF8-C42D-532D-7BC2-AE33C4E7050B}"/>
          </ac:spMkLst>
        </pc:spChg>
      </pc:sldChg>
      <pc:sldChg chg="modSp mod">
        <pc:chgData name="Joshna Besta" userId="08cd2af9f26b2296" providerId="LiveId" clId="{17BFE3E4-9AA8-44D0-AD89-0C4792488673}" dt="2026-07-15T09:00:02.075" v="80" actId="20577"/>
        <pc:sldMkLst>
          <pc:docMk/>
          <pc:sldMk cId="0" sldId="257"/>
        </pc:sldMkLst>
        <pc:spChg chg="mod">
          <ac:chgData name="Joshna Besta" userId="08cd2af9f26b2296" providerId="LiveId" clId="{17BFE3E4-9AA8-44D0-AD89-0C4792488673}" dt="2026-07-15T09:00:02.075" v="80" actId="20577"/>
          <ac:spMkLst>
            <pc:docMk/>
            <pc:sldMk cId="0" sldId="257"/>
            <ac:spMk id="2" creationId="{00000000-0000-0000-0000-000000000000}"/>
          </ac:spMkLst>
        </pc:spChg>
      </pc:sldChg>
      <pc:sldChg chg="modSp mod">
        <pc:chgData name="Joshna Besta" userId="08cd2af9f26b2296" providerId="LiveId" clId="{17BFE3E4-9AA8-44D0-AD89-0C4792488673}" dt="2026-07-15T08:52:21.714" v="5" actId="20577"/>
        <pc:sldMkLst>
          <pc:docMk/>
          <pc:sldMk cId="0" sldId="258"/>
        </pc:sldMkLst>
        <pc:spChg chg="mod">
          <ac:chgData name="Joshna Besta" userId="08cd2af9f26b2296" providerId="LiveId" clId="{17BFE3E4-9AA8-44D0-AD89-0C4792488673}" dt="2026-07-15T08:52:21.714" v="5" actId="20577"/>
          <ac:spMkLst>
            <pc:docMk/>
            <pc:sldMk cId="0" sldId="258"/>
            <ac:spMk id="2" creationId="{00000000-0000-0000-0000-000000000000}"/>
          </ac:spMkLst>
        </pc:spChg>
        <pc:spChg chg="mod">
          <ac:chgData name="Joshna Besta" userId="08cd2af9f26b2296" providerId="LiveId" clId="{17BFE3E4-9AA8-44D0-AD89-0C4792488673}" dt="2026-07-15T08:52:15.298" v="1" actId="14100"/>
          <ac:spMkLst>
            <pc:docMk/>
            <pc:sldMk cId="0" sldId="258"/>
            <ac:spMk id="3" creationId="{00000000-0000-0000-0000-000000000000}"/>
          </ac:spMkLst>
        </pc:spChg>
      </pc:sldChg>
      <pc:sldChg chg="modSp mod ord">
        <pc:chgData name="Joshna Besta" userId="08cd2af9f26b2296" providerId="LiveId" clId="{17BFE3E4-9AA8-44D0-AD89-0C4792488673}" dt="2026-07-15T09:17:06.037" v="175" actId="20577"/>
        <pc:sldMkLst>
          <pc:docMk/>
          <pc:sldMk cId="0" sldId="259"/>
        </pc:sldMkLst>
        <pc:spChg chg="mod">
          <ac:chgData name="Joshna Besta" userId="08cd2af9f26b2296" providerId="LiveId" clId="{17BFE3E4-9AA8-44D0-AD89-0C4792488673}" dt="2026-07-15T09:17:06.037" v="175" actId="20577"/>
          <ac:spMkLst>
            <pc:docMk/>
            <pc:sldMk cId="0" sldId="259"/>
            <ac:spMk id="2" creationId="{00000000-0000-0000-0000-000000000000}"/>
          </ac:spMkLst>
        </pc:spChg>
        <pc:spChg chg="mod">
          <ac:chgData name="Joshna Besta" userId="08cd2af9f26b2296" providerId="LiveId" clId="{17BFE3E4-9AA8-44D0-AD89-0C4792488673}" dt="2026-07-15T09:04:02.116" v="116" actId="2710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Joshna Besta" userId="08cd2af9f26b2296" providerId="LiveId" clId="{17BFE3E4-9AA8-44D0-AD89-0C4792488673}" dt="2026-07-15T09:02:03.947" v="104" actId="14100"/>
        <pc:sldMkLst>
          <pc:docMk/>
          <pc:sldMk cId="0" sldId="261"/>
        </pc:sldMkLst>
        <pc:spChg chg="mod">
          <ac:chgData name="Joshna Besta" userId="08cd2af9f26b2296" providerId="LiveId" clId="{17BFE3E4-9AA8-44D0-AD89-0C4792488673}" dt="2026-07-15T09:01:59.364" v="103" actId="20577"/>
          <ac:spMkLst>
            <pc:docMk/>
            <pc:sldMk cId="0" sldId="261"/>
            <ac:spMk id="2" creationId="{00000000-0000-0000-0000-000000000000}"/>
          </ac:spMkLst>
        </pc:spChg>
        <pc:spChg chg="mod">
          <ac:chgData name="Joshna Besta" userId="08cd2af9f26b2296" providerId="LiveId" clId="{17BFE3E4-9AA8-44D0-AD89-0C4792488673}" dt="2026-07-15T09:02:03.947" v="104" actId="14100"/>
          <ac:spMkLst>
            <pc:docMk/>
            <pc:sldMk cId="0" sldId="261"/>
            <ac:spMk id="3" creationId="{00000000-0000-0000-0000-000000000000}"/>
          </ac:spMkLst>
        </pc:spChg>
      </pc:sldChg>
      <pc:sldChg chg="addSp delSp modSp new mod">
        <pc:chgData name="Joshna Besta" userId="08cd2af9f26b2296" providerId="LiveId" clId="{17BFE3E4-9AA8-44D0-AD89-0C4792488673}" dt="2026-07-15T09:06:04.588" v="164" actId="20577"/>
        <pc:sldMkLst>
          <pc:docMk/>
          <pc:sldMk cId="4060335170" sldId="262"/>
        </pc:sldMkLst>
        <pc:spChg chg="add mod">
          <ac:chgData name="Joshna Besta" userId="08cd2af9f26b2296" providerId="LiveId" clId="{17BFE3E4-9AA8-44D0-AD89-0C4792488673}" dt="2026-07-15T09:06:04.588" v="164" actId="20577"/>
          <ac:spMkLst>
            <pc:docMk/>
            <pc:sldMk cId="4060335170" sldId="262"/>
            <ac:spMk id="5" creationId="{3AF3BF08-C2F1-5A0A-82BB-E47B9932D0B8}"/>
          </ac:spMkLst>
        </pc:spChg>
        <pc:graphicFrameChg chg="add mod modGraphic">
          <ac:chgData name="Joshna Besta" userId="08cd2af9f26b2296" providerId="LiveId" clId="{17BFE3E4-9AA8-44D0-AD89-0C4792488673}" dt="2026-07-15T08:56:59.020" v="39" actId="14100"/>
          <ac:graphicFrameMkLst>
            <pc:docMk/>
            <pc:sldMk cId="4060335170" sldId="262"/>
            <ac:graphicFrameMk id="3" creationId="{FFA5EFBA-8E26-8769-F924-E83D0BE4625E}"/>
          </ac:graphicFrameMkLst>
        </pc:graphicFrameChg>
        <pc:picChg chg="add">
          <ac:chgData name="Joshna Besta" userId="08cd2af9f26b2296" providerId="LiveId" clId="{17BFE3E4-9AA8-44D0-AD89-0C4792488673}" dt="2026-07-15T09:05:48.834" v="162" actId="22"/>
          <ac:picMkLst>
            <pc:docMk/>
            <pc:sldMk cId="4060335170" sldId="262"/>
            <ac:picMk id="7" creationId="{610C9E8B-E186-F406-54C8-BBFB8C5D34A2}"/>
          </ac:picMkLst>
        </pc:picChg>
        <pc:picChg chg="add">
          <ac:chgData name="Joshna Besta" userId="08cd2af9f26b2296" providerId="LiveId" clId="{17BFE3E4-9AA8-44D0-AD89-0C4792488673}" dt="2026-07-15T09:05:58.379" v="163" actId="22"/>
          <ac:picMkLst>
            <pc:docMk/>
            <pc:sldMk cId="4060335170" sldId="262"/>
            <ac:picMk id="9" creationId="{34CA7789-5ADF-AFCD-A165-AAAE4BDCC7D0}"/>
          </ac:picMkLst>
        </pc:picChg>
      </pc:sldChg>
      <pc:sldChg chg="addSp modSp new mod">
        <pc:chgData name="Joshna Besta" userId="08cd2af9f26b2296" providerId="LiveId" clId="{17BFE3E4-9AA8-44D0-AD89-0C4792488673}" dt="2026-07-15T09:02:34.866" v="107" actId="20577"/>
        <pc:sldMkLst>
          <pc:docMk/>
          <pc:sldMk cId="294796767" sldId="263"/>
        </pc:sldMkLst>
        <pc:spChg chg="add mod">
          <ac:chgData name="Joshna Besta" userId="08cd2af9f26b2296" providerId="LiveId" clId="{17BFE3E4-9AA8-44D0-AD89-0C4792488673}" dt="2026-07-15T09:02:34.866" v="107" actId="20577"/>
          <ac:spMkLst>
            <pc:docMk/>
            <pc:sldMk cId="294796767" sldId="263"/>
            <ac:spMk id="2" creationId="{31FBB942-EF46-179E-33D4-5ED3288B0924}"/>
          </ac:spMkLst>
        </pc:spChg>
        <pc:picChg chg="add">
          <ac:chgData name="Joshna Besta" userId="08cd2af9f26b2296" providerId="LiveId" clId="{17BFE3E4-9AA8-44D0-AD89-0C4792488673}" dt="2026-07-15T09:02:11.252" v="105" actId="22"/>
          <ac:picMkLst>
            <pc:docMk/>
            <pc:sldMk cId="294796767" sldId="263"/>
            <ac:picMk id="4" creationId="{69938EB4-A06C-C095-8D2F-D342F8A65AAB}"/>
          </ac:picMkLst>
        </pc:picChg>
        <pc:picChg chg="add">
          <ac:chgData name="Joshna Besta" userId="08cd2af9f26b2296" providerId="LiveId" clId="{17BFE3E4-9AA8-44D0-AD89-0C4792488673}" dt="2026-07-15T09:02:26.110" v="106" actId="22"/>
          <ac:picMkLst>
            <pc:docMk/>
            <pc:sldMk cId="294796767" sldId="263"/>
            <ac:picMk id="6" creationId="{23A30EA7-D9F2-48E5-BD9F-3AFAC77A8A3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2546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emake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218049" y="1286755"/>
            <a:ext cx="9362049" cy="14564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b="1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Comparative Study Of NLP Models And Algorithms</a:t>
            </a:r>
          </a:p>
          <a:p>
            <a:pPr algn="ctr"/>
            <a:r>
              <a:rPr lang="en-US" sz="3000" b="1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DSA0304-Natural language processing	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>
            <a:hlinkClick r:id="rId3"/>
          </p:cNvPr>
          <p:cNvSpPr/>
          <p:nvPr/>
        </p:nvSpPr>
        <p:spPr>
          <a:xfrm>
            <a:off x="7315200" y="4572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1000" dirty="0"/>
          </a:p>
        </p:txBody>
      </p:sp>
      <p:pic>
        <p:nvPicPr>
          <p:cNvPr id="4" name="Picture 3" descr="Saveetha Institute of Medical and Technical Sciences -SIMATS ...">
            <a:extLst>
              <a:ext uri="{FF2B5EF4-FFF2-40B4-BE49-F238E27FC236}">
                <a16:creationId xmlns:a16="http://schemas.microsoft.com/office/drawing/2014/main" id="{2037BCF7-558C-EAE2-2FAB-956F7C8A1A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83" y="108144"/>
            <a:ext cx="946494" cy="946494"/>
          </a:xfrm>
          <a:prstGeom prst="rect">
            <a:avLst/>
          </a:prstGeom>
        </p:spPr>
      </p:pic>
      <p:pic>
        <p:nvPicPr>
          <p:cNvPr id="5" name="Picture 4" descr="SIMATS Engineering, Chennai : Campus Karma">
            <a:extLst>
              <a:ext uri="{FF2B5EF4-FFF2-40B4-BE49-F238E27FC236}">
                <a16:creationId xmlns:a16="http://schemas.microsoft.com/office/drawing/2014/main" id="{6DBD2A5E-E749-0C01-4D7C-6D836549CB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3122" y="-21395"/>
            <a:ext cx="1160878" cy="11608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09A2BF8-C42D-532D-7BC2-AE33C4E7050B}"/>
              </a:ext>
            </a:extLst>
          </p:cNvPr>
          <p:cNvSpPr txBox="1"/>
          <p:nvPr/>
        </p:nvSpPr>
        <p:spPr>
          <a:xfrm>
            <a:off x="6175717" y="3826412"/>
            <a:ext cx="28346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Name:B.Joshna</a:t>
            </a:r>
            <a:endParaRPr lang="en-IN" dirty="0"/>
          </a:p>
          <a:p>
            <a:r>
              <a:rPr lang="en-IN" dirty="0"/>
              <a:t>Reg no:(192472097)</a:t>
            </a:r>
          </a:p>
          <a:p>
            <a:r>
              <a:rPr lang="en-IN" dirty="0"/>
              <a:t>Course code:DSA0304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6523" y="639785"/>
            <a:ext cx="8468751" cy="11887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       Introduction to NLP Models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218049" y="1667022"/>
            <a:ext cx="8468751" cy="26763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Natural Language Processing (NLP) involves enabling machines to understand, interpret, and generate human language.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Various models and algorithms have been developed to address tasks like translation, sentiment analysis, and question-answering.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This presentation compares prominent NLP models and algorithms to highlight their strengths and limitations.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Saveetha Institute of Medical and Technical Sciences -SIMATS ...">
            <a:extLst>
              <a:ext uri="{FF2B5EF4-FFF2-40B4-BE49-F238E27FC236}">
                <a16:creationId xmlns:a16="http://schemas.microsoft.com/office/drawing/2014/main" id="{4677C619-2C36-1599-6DC6-A9D67084AC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3" y="108144"/>
            <a:ext cx="946494" cy="946494"/>
          </a:xfrm>
          <a:prstGeom prst="rect">
            <a:avLst/>
          </a:prstGeom>
        </p:spPr>
      </p:pic>
      <p:pic>
        <p:nvPicPr>
          <p:cNvPr id="7" name="Picture 6" descr="SIMATS Engineering, Chennai : Campus Karma">
            <a:extLst>
              <a:ext uri="{FF2B5EF4-FFF2-40B4-BE49-F238E27FC236}">
                <a16:creationId xmlns:a16="http://schemas.microsoft.com/office/drawing/2014/main" id="{057E0159-5A45-7412-D707-80C031E4A5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70044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1779" y="970670"/>
            <a:ext cx="8525022" cy="4922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    </a:t>
            </a:r>
          </a:p>
          <a:p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    Traditional NLP Algorithms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8582" y="1955264"/>
            <a:ext cx="8578217" cy="23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Traditional algorithms include rule-based systems, keyword matching, and statistical methods like n-grams.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These approaches rely on handcrafted rules or statistical probabilities derived from large corpora.</a:t>
            </a:r>
            <a:endParaRPr lang="en-US" sz="2000" dirty="0"/>
          </a:p>
          <a:p>
            <a:pPr>
              <a:buSzPct val="100000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While simple and interpretable, they often struggle with complex language understanding and context.</a:t>
            </a:r>
            <a:endParaRPr lang="en-US" sz="2000" dirty="0"/>
          </a:p>
        </p:txBody>
      </p:sp>
      <p:pic>
        <p:nvPicPr>
          <p:cNvPr id="5" name="Picture 4" descr="Saveetha Institute of Medical and Technical Sciences -SIMATS ...">
            <a:extLst>
              <a:ext uri="{FF2B5EF4-FFF2-40B4-BE49-F238E27FC236}">
                <a16:creationId xmlns:a16="http://schemas.microsoft.com/office/drawing/2014/main" id="{1F3B0F02-9EB7-53CC-C307-E34D396CC6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3" y="108144"/>
            <a:ext cx="946494" cy="946494"/>
          </a:xfrm>
          <a:prstGeom prst="rect">
            <a:avLst/>
          </a:prstGeom>
        </p:spPr>
      </p:pic>
      <p:pic>
        <p:nvPicPr>
          <p:cNvPr id="7" name="Picture 6" descr="SIMATS Engineering, Chennai : Campus Karma">
            <a:extLst>
              <a:ext uri="{FF2B5EF4-FFF2-40B4-BE49-F238E27FC236}">
                <a16:creationId xmlns:a16="http://schemas.microsoft.com/office/drawing/2014/main" id="{F4B7814B-54AB-F05A-03E7-6CFAA09BBC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70044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FA5EFBA-8E26-8769-F924-E83D0BE462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5992371"/>
              </p:ext>
            </p:extLst>
          </p:nvPr>
        </p:nvGraphicFramePr>
        <p:xfrm>
          <a:off x="513471" y="1709225"/>
          <a:ext cx="8001879" cy="2396844"/>
        </p:xfrm>
        <a:graphic>
          <a:graphicData uri="http://schemas.openxmlformats.org/drawingml/2006/table">
            <a:tbl>
              <a:tblPr/>
              <a:tblGrid>
                <a:gridCol w="2667293">
                  <a:extLst>
                    <a:ext uri="{9D8B030D-6E8A-4147-A177-3AD203B41FA5}">
                      <a16:colId xmlns:a16="http://schemas.microsoft.com/office/drawing/2014/main" val="3852429878"/>
                    </a:ext>
                  </a:extLst>
                </a:gridCol>
                <a:gridCol w="2667293">
                  <a:extLst>
                    <a:ext uri="{9D8B030D-6E8A-4147-A177-3AD203B41FA5}">
                      <a16:colId xmlns:a16="http://schemas.microsoft.com/office/drawing/2014/main" val="521960583"/>
                    </a:ext>
                  </a:extLst>
                </a:gridCol>
                <a:gridCol w="2667293">
                  <a:extLst>
                    <a:ext uri="{9D8B030D-6E8A-4147-A177-3AD203B41FA5}">
                      <a16:colId xmlns:a16="http://schemas.microsoft.com/office/drawing/2014/main" val="2284204298"/>
                    </a:ext>
                  </a:extLst>
                </a:gridCol>
              </a:tblGrid>
              <a:tr h="264479">
                <a:tc>
                  <a:txBody>
                    <a:bodyPr/>
                    <a:lstStyle/>
                    <a:p>
                      <a:pPr marL="0" marR="0" indent="0" algn="l" fontAlgn="b">
                        <a:lnSpc>
                          <a:spcPts val="1200"/>
                        </a:lnSpc>
                        <a:buNone/>
                      </a:pPr>
                      <a:r>
                        <a:rPr lang="en-IN" b="1" dirty="0">
                          <a:solidFill>
                            <a:srgbClr val="0D0D0D"/>
                          </a:solidFill>
                          <a:effectLst/>
                        </a:rPr>
                        <a:t>Traditional Models</a:t>
                      </a:r>
                    </a:p>
                  </a:txBody>
                  <a:tcPr anchor="b">
                    <a:lnL w="12700" cap="flat" cmpd="sng" algn="ctr">
                      <a:solidFill>
                        <a:srgbClr val="00B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3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C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6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">
                        <a:lnSpc>
                          <a:spcPts val="1200"/>
                        </a:lnSpc>
                        <a:buNone/>
                      </a:pPr>
                      <a:r>
                        <a:rPr lang="en-IN" b="1">
                          <a:solidFill>
                            <a:srgbClr val="0D0D0D"/>
                          </a:solidFill>
                          <a:effectLst/>
                        </a:rPr>
                        <a:t>Deep Learning Models</a:t>
                      </a:r>
                    </a:p>
                  </a:txBody>
                  <a:tcPr anchor="b">
                    <a:lnL w="12700" cap="flat" cmpd="sng" algn="ctr">
                      <a:solidFill>
                        <a:srgbClr val="F0E3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1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E3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9C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">
                        <a:lnSpc>
                          <a:spcPts val="1200"/>
                        </a:lnSpc>
                        <a:buNone/>
                      </a:pPr>
                      <a:r>
                        <a:rPr lang="en-IN" b="1">
                          <a:solidFill>
                            <a:srgbClr val="0D0D0D"/>
                          </a:solidFill>
                          <a:effectLst/>
                        </a:rPr>
                        <a:t>Transformer Models</a:t>
                      </a:r>
                    </a:p>
                  </a:txBody>
                  <a:tcPr anchor="b">
                    <a:lnL w="12700" cap="flat" cmpd="sng" algn="ctr">
                      <a:solidFill>
                        <a:srgbClr val="601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1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1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A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1770764"/>
                  </a:ext>
                </a:extLst>
              </a:tr>
              <a:tr h="396719"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>
                          <a:effectLst/>
                        </a:rPr>
                        <a:t>Naïve Bayes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06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9C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6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3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>
                          <a:effectLst/>
                        </a:rPr>
                        <a:t>RNN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09C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A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9C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66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>
                          <a:effectLst/>
                        </a:rPr>
                        <a:t>BERT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0A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A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AB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9C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690665"/>
                  </a:ext>
                </a:extLst>
              </a:tr>
              <a:tr h="396719"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>
                          <a:effectLst/>
                        </a:rPr>
                        <a:t>Logistic Regression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0C3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66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3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E6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>
                          <a:effectLst/>
                        </a:rPr>
                        <a:t>LSTM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066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9C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66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3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>
                          <a:effectLst/>
                        </a:rPr>
                        <a:t>RoBERTa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09C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9C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9C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C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0553035"/>
                  </a:ext>
                </a:extLst>
              </a:tr>
              <a:tr h="396719"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>
                          <a:effectLst/>
                        </a:rPr>
                        <a:t>Support Vector Machine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90E6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3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E6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E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>
                          <a:effectLst/>
                        </a:rPr>
                        <a:t>GRU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0C3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C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3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6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>
                          <a:effectLst/>
                        </a:rPr>
                        <a:t>ALBERT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0C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C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C9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7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8349144"/>
                  </a:ext>
                </a:extLst>
              </a:tr>
              <a:tr h="396719"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>
                          <a:effectLst/>
                        </a:rPr>
                        <a:t>Random Forest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10E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6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E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64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>
                          <a:effectLst/>
                        </a:rPr>
                        <a:t>CNN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06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7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6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64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>
                          <a:effectLst/>
                        </a:rPr>
                        <a:t>GPT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07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7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7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64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9143718"/>
                  </a:ext>
                </a:extLst>
              </a:tr>
              <a:tr h="545489"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>
                          <a:effectLst/>
                        </a:rPr>
                        <a:t>Decision Tree</a:t>
                      </a:r>
                    </a:p>
                  </a:txBody>
                  <a:tcPr marB="182880" anchor="ctr">
                    <a:lnL w="12700" cap="flat" cmpd="sng" algn="ctr">
                      <a:solidFill>
                        <a:srgbClr val="D064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64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64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64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>
                          <a:effectLst/>
                        </a:rPr>
                        <a:t>Bi-LSTM</a:t>
                      </a:r>
                    </a:p>
                  </a:txBody>
                  <a:tcPr marB="182880" anchor="ctr">
                    <a:lnL w="12700" cap="flat" cmpd="sng" algn="ctr">
                      <a:solidFill>
                        <a:srgbClr val="D064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64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64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64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dirty="0" err="1">
                          <a:effectLst/>
                        </a:rPr>
                        <a:t>DistilBERT</a:t>
                      </a:r>
                      <a:endParaRPr lang="en-IN" dirty="0">
                        <a:effectLst/>
                      </a:endParaRPr>
                    </a:p>
                  </a:txBody>
                  <a:tcPr marB="182880" anchor="ctr">
                    <a:lnL w="12700" cap="flat" cmpd="sng" algn="ctr">
                      <a:solidFill>
                        <a:srgbClr val="D064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64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64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64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235859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AF3BF08-C2F1-5A0A-82BB-E47B9932D0B8}"/>
              </a:ext>
            </a:extLst>
          </p:cNvPr>
          <p:cNvSpPr txBox="1"/>
          <p:nvPr/>
        </p:nvSpPr>
        <p:spPr>
          <a:xfrm>
            <a:off x="513471" y="1043645"/>
            <a:ext cx="6400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300"/>
              </a:spcAft>
              <a:buNone/>
            </a:pPr>
            <a:r>
              <a:rPr lang="en-IN" sz="1800" b="1" i="0" dirty="0">
                <a:solidFill>
                  <a:srgbClr val="0D0D0D"/>
                </a:solidFill>
                <a:effectLst/>
                <a:latin typeface="-apple-system-body"/>
              </a:rPr>
              <a:t> </a:t>
            </a:r>
            <a:r>
              <a:rPr lang="en-IN" sz="2000" b="1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20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omparison: </a:t>
            </a:r>
          </a:p>
        </p:txBody>
      </p:sp>
      <p:pic>
        <p:nvPicPr>
          <p:cNvPr id="7" name="Picture 6" descr="Saveetha Institute of Medical and Technical Sciences -SIMATS ...">
            <a:extLst>
              <a:ext uri="{FF2B5EF4-FFF2-40B4-BE49-F238E27FC236}">
                <a16:creationId xmlns:a16="http://schemas.microsoft.com/office/drawing/2014/main" id="{610C9E8B-E186-F406-54C8-BBFB8C5D3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3" y="108144"/>
            <a:ext cx="946494" cy="946494"/>
          </a:xfrm>
          <a:prstGeom prst="rect">
            <a:avLst/>
          </a:prstGeom>
        </p:spPr>
      </p:pic>
      <p:pic>
        <p:nvPicPr>
          <p:cNvPr id="9" name="Picture 8" descr="SIMATS Engineering, Chennai : Campus Karma">
            <a:extLst>
              <a:ext uri="{FF2B5EF4-FFF2-40B4-BE49-F238E27FC236}">
                <a16:creationId xmlns:a16="http://schemas.microsoft.com/office/drawing/2014/main" id="{34CA7789-5ADF-AFCD-A165-AAAE4BDCC7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70044"/>
            <a:ext cx="1097280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3351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8049" y="1167324"/>
            <a:ext cx="8468751" cy="4574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Advantages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Transformer Models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8583" y="1624818"/>
            <a:ext cx="8578217" cy="27185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contextual understanding.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accuracy.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long text efficiently.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transfer learning.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Excellent performance on complex NLP tasks.</a:t>
            </a:r>
          </a:p>
          <a:p>
            <a:pPr marL="342900" indent="-342900">
              <a:buSzPct val="100000"/>
              <a:buChar char="•"/>
            </a:pPr>
            <a:endParaRPr lang="en-US" sz="2000" dirty="0"/>
          </a:p>
        </p:txBody>
      </p:sp>
      <p:pic>
        <p:nvPicPr>
          <p:cNvPr id="5" name="Picture 4" descr="Saveetha Institute of Medical and Technical Sciences -SIMATS ...">
            <a:extLst>
              <a:ext uri="{FF2B5EF4-FFF2-40B4-BE49-F238E27FC236}">
                <a16:creationId xmlns:a16="http://schemas.microsoft.com/office/drawing/2014/main" id="{BBBD23C4-F055-9752-758E-751087A2AA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3" y="108144"/>
            <a:ext cx="946494" cy="946494"/>
          </a:xfrm>
          <a:prstGeom prst="rect">
            <a:avLst/>
          </a:prstGeom>
        </p:spPr>
      </p:pic>
      <p:pic>
        <p:nvPicPr>
          <p:cNvPr id="7" name="Picture 6" descr="SIMATS Engineering, Chennai : Campus Karma">
            <a:extLst>
              <a:ext uri="{FF2B5EF4-FFF2-40B4-BE49-F238E27FC236}">
                <a16:creationId xmlns:a16="http://schemas.microsoft.com/office/drawing/2014/main" id="{5200739A-0FB1-BFDA-8D7E-8F35529FB8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70044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508" y="1104314"/>
            <a:ext cx="8581292" cy="766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Future Scope:</a:t>
            </a:r>
          </a:p>
        </p:txBody>
      </p:sp>
      <p:sp>
        <p:nvSpPr>
          <p:cNvPr id="3" name="Text 1"/>
          <p:cNvSpPr/>
          <p:nvPr/>
        </p:nvSpPr>
        <p:spPr>
          <a:xfrm>
            <a:off x="274320" y="1955408"/>
            <a:ext cx="8412480" cy="23879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lightweight transformer models.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multilingual NLP systems.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explainable AI techniques.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real-time NLP applications.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multimodal AI (text, image, speech).</a:t>
            </a:r>
          </a:p>
          <a:p>
            <a:br>
              <a:rPr lang="en-IN" sz="2000" dirty="0"/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Saveetha Institute of Medical and Technical Sciences -SIMATS ...">
            <a:extLst>
              <a:ext uri="{FF2B5EF4-FFF2-40B4-BE49-F238E27FC236}">
                <a16:creationId xmlns:a16="http://schemas.microsoft.com/office/drawing/2014/main" id="{20708645-9DAC-6E58-08DC-86C6CC446B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3" y="108144"/>
            <a:ext cx="946494" cy="946494"/>
          </a:xfrm>
          <a:prstGeom prst="rect">
            <a:avLst/>
          </a:prstGeom>
        </p:spPr>
      </p:pic>
      <p:pic>
        <p:nvPicPr>
          <p:cNvPr id="7" name="Picture 6" descr="SIMATS Engineering, Chennai : Campus Karma">
            <a:extLst>
              <a:ext uri="{FF2B5EF4-FFF2-40B4-BE49-F238E27FC236}">
                <a16:creationId xmlns:a16="http://schemas.microsoft.com/office/drawing/2014/main" id="{E7A7A102-9FB8-0294-9674-194E978B98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70044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FBB942-EF46-179E-33D4-5ED3288B0924}"/>
              </a:ext>
            </a:extLst>
          </p:cNvPr>
          <p:cNvSpPr txBox="1"/>
          <p:nvPr/>
        </p:nvSpPr>
        <p:spPr>
          <a:xfrm>
            <a:off x="367201" y="727200"/>
            <a:ext cx="77616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has evolved from traditional machine learning to advanced transformer-based models.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algorithms are suitable for simpler tasks and limited resources.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models provide improved feature learning.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 models such as BERT and GPT achieve state-of-the-art performance across many NLP tasks.</a:t>
            </a:r>
          </a:p>
          <a:p>
            <a:endParaRPr lang="en-IN" dirty="0"/>
          </a:p>
        </p:txBody>
      </p:sp>
      <p:pic>
        <p:nvPicPr>
          <p:cNvPr id="4" name="Picture 3" descr="Saveetha Institute of Medical and Technical Sciences -SIMATS ...">
            <a:extLst>
              <a:ext uri="{FF2B5EF4-FFF2-40B4-BE49-F238E27FC236}">
                <a16:creationId xmlns:a16="http://schemas.microsoft.com/office/drawing/2014/main" id="{69938EB4-A06C-C095-8D2F-D342F8A65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3" y="108144"/>
            <a:ext cx="946494" cy="946494"/>
          </a:xfrm>
          <a:prstGeom prst="rect">
            <a:avLst/>
          </a:prstGeom>
        </p:spPr>
      </p:pic>
      <p:pic>
        <p:nvPicPr>
          <p:cNvPr id="6" name="Picture 5" descr="SIMATS Engineering, Chennai : Campus Karma">
            <a:extLst>
              <a:ext uri="{FF2B5EF4-FFF2-40B4-BE49-F238E27FC236}">
                <a16:creationId xmlns:a16="http://schemas.microsoft.com/office/drawing/2014/main" id="{23A30EA7-D9F2-48E5-BD9F-3AFAC77A8A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70044"/>
            <a:ext cx="1097280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967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281</Words>
  <Application>Microsoft Office PowerPoint</Application>
  <PresentationFormat>On-screen Show (16:9)</PresentationFormat>
  <Paragraphs>61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-apple-system-body</vt:lpstr>
      <vt:lpstr>Arial</vt:lpstr>
      <vt:lpstr>Optima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SlideMake.com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Comparative Study Of NLP Models And Algorithms	Explore Different NLP Models And Algorithms Used Fo</dc:title>
  <dc:subject>Comparative Study Of NLP Models And Algorithms	Explore Different NLP Models And Algorithms Used Fo</dc:subject>
  <dc:creator>SlideMake.com</dc:creator>
  <cp:lastModifiedBy>Joshna Besta</cp:lastModifiedBy>
  <cp:revision>2</cp:revision>
  <dcterms:created xsi:type="dcterms:W3CDTF">2026-07-15T08:38:22Z</dcterms:created>
  <dcterms:modified xsi:type="dcterms:W3CDTF">2026-07-17T06:12:42Z</dcterms:modified>
</cp:coreProperties>
</file>